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nanias Bold" charset="1" panose="00000500000000000000"/>
      <p:regular r:id="rId17"/>
    </p:embeddedFont>
    <p:embeddedFont>
      <p:font typeface="Garet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681250"/>
            <a:ext cx="13268902" cy="284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9"/>
              </a:lnSpc>
              <a:spcBef>
                <a:spcPct val="0"/>
              </a:spcBef>
            </a:pPr>
            <a:r>
              <a:rPr lang="en-US" sz="5456" spc="376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Soft-Sensor Development for Ethanol Distillation Column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188992" y="8789722"/>
            <a:ext cx="4360086" cy="117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1"/>
              </a:lnSpc>
            </a:pPr>
          </a:p>
          <a:p>
            <a:pPr algn="ctr">
              <a:lnSpc>
                <a:spcPts val="4701"/>
              </a:lnSpc>
              <a:spcBef>
                <a:spcPct val="0"/>
              </a:spcBef>
            </a:pPr>
            <a:r>
              <a:rPr lang="en-US" sz="3358" spc="231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Dharmesh 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019098" y="5909590"/>
            <a:ext cx="13268902" cy="786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19"/>
              </a:lnSpc>
              <a:spcBef>
                <a:spcPct val="0"/>
              </a:spcBef>
            </a:pPr>
            <a:r>
              <a:rPr lang="en-US" sz="4656" spc="321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Exploratory 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21400" y="952500"/>
            <a:ext cx="6261377" cy="66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5"/>
              </a:lnSpc>
              <a:spcBef>
                <a:spcPct val="0"/>
              </a:spcBef>
            </a:pPr>
            <a:r>
              <a:rPr lang="en-US" sz="3875" spc="267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Step 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21400" y="2030666"/>
            <a:ext cx="15450009" cy="292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Dataset size: 4408 samples × 21 variables</a:t>
            </a:r>
          </a:p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Target variable: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Ethanol concentration (distillate purity)</a:t>
            </a:r>
          </a:p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Input variables: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Tray temperatures: T1–T14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Flow variables: L, V, D, B, F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Pressure (constant)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21400" y="5370005"/>
            <a:ext cx="15450009" cy="292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Observations: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Pressure ≈ 1.01 bar (constant)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Constant variables introduce bias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Pressure removed from analysis</a:t>
            </a:r>
          </a:p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 type issues: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 and V initially read as non-numeric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Converted to numeric (float/int)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6214" y="365125"/>
            <a:ext cx="6261377" cy="66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5"/>
              </a:lnSpc>
              <a:spcBef>
                <a:spcPct val="0"/>
              </a:spcBef>
            </a:pPr>
            <a:r>
              <a:rPr lang="en-US" sz="3875" spc="267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Step 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18995" y="1306221"/>
            <a:ext cx="15450009" cy="836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Ethanol concentration: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Range: 0.54 – 0.89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Mean ≈ 0.79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Majority of operation near high purity</a:t>
            </a:r>
          </a:p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Flow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variables (L, V):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Mean ≫ Median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Large range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Right-ske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wed distribution</a:t>
            </a:r>
          </a:p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Inference: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Raw L and V values are not ideal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Ratio-based features are likely more meaningful</a:t>
            </a:r>
          </a:p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Observation from variance trends: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Variance changes systematically along tray number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Middle trays (≈ T6–T10):</a:t>
            </a:r>
          </a:p>
          <a:p>
            <a:pPr algn="l" marL="1557676" indent="-389419" lvl="3">
              <a:lnSpc>
                <a:spcPts val="3366"/>
              </a:lnSpc>
              <a:buFont typeface="Arial"/>
              <a:buChar char="￭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Higher variance</a:t>
            </a:r>
          </a:p>
          <a:p>
            <a:pPr algn="l" marL="1557676" indent="-389419" lvl="3">
              <a:lnSpc>
                <a:spcPts val="3366"/>
              </a:lnSpc>
              <a:buFont typeface="Arial"/>
              <a:buChar char="￭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Greater sensitivity to composition changes</a:t>
            </a:r>
          </a:p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Interpretation: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Expected physical behavior: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Middle trays respond strongly to separation changes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Top &amp; bottom trays more constrained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4095802"/>
            <a:ext cx="8809412" cy="5814212"/>
          </a:xfrm>
          <a:custGeom>
            <a:avLst/>
            <a:gdLst/>
            <a:ahLst/>
            <a:cxnLst/>
            <a:rect r="r" b="b" t="t" l="l"/>
            <a:pathLst>
              <a:path h="5814212" w="8809412">
                <a:moveTo>
                  <a:pt x="0" y="0"/>
                </a:moveTo>
                <a:lnTo>
                  <a:pt x="8809412" y="0"/>
                </a:lnTo>
                <a:lnTo>
                  <a:pt x="8809412" y="5814212"/>
                </a:lnTo>
                <a:lnTo>
                  <a:pt x="0" y="5814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39205" y="6321961"/>
            <a:ext cx="5715373" cy="3765002"/>
          </a:xfrm>
          <a:custGeom>
            <a:avLst/>
            <a:gdLst/>
            <a:ahLst/>
            <a:cxnLst/>
            <a:rect r="r" b="b" t="t" l="l"/>
            <a:pathLst>
              <a:path h="3765002" w="5715373">
                <a:moveTo>
                  <a:pt x="0" y="0"/>
                </a:moveTo>
                <a:lnTo>
                  <a:pt x="5715373" y="0"/>
                </a:lnTo>
                <a:lnTo>
                  <a:pt x="5715373" y="3765002"/>
                </a:lnTo>
                <a:lnTo>
                  <a:pt x="0" y="3765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6214" y="365125"/>
            <a:ext cx="6261377" cy="66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5"/>
              </a:lnSpc>
              <a:spcBef>
                <a:spcPct val="0"/>
              </a:spcBef>
            </a:pPr>
            <a:r>
              <a:rPr lang="en-US" sz="3875" spc="267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Step 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8995" y="1306221"/>
            <a:ext cx="15450009" cy="501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Ethanol concentration: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Most data in 0.80–0.85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Many apparent outliers</a:t>
            </a:r>
          </a:p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Important insight: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Outl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iers are proces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events, not bad data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Removing 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them would remove valuable information</a:t>
            </a:r>
          </a:p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Flow variables (L, V):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Highly skewed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Wid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 spread</a:t>
            </a:r>
          </a:p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Conclusion: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Better to use ratios than raw values</a:t>
            </a:r>
          </a:p>
          <a:p>
            <a:pPr algn="l">
              <a:lnSpc>
                <a:spcPts val="3366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6214" y="365125"/>
            <a:ext cx="6261377" cy="66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5"/>
              </a:lnSpc>
              <a:spcBef>
                <a:spcPct val="0"/>
              </a:spcBef>
            </a:pPr>
            <a:r>
              <a:rPr lang="en-US" sz="3875" spc="267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Step 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18995" y="1306221"/>
            <a:ext cx="15450009" cy="543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Ethanol concentration depends main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ly on tray temperatures</a:t>
            </a:r>
          </a:p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 decreases from T1 → T14</a:t>
            </a:r>
          </a:p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Correlation signs: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Pearson &amp; Spearman mostly negative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As ethanol concentration ↑ → temperature ↓</a:t>
            </a:r>
          </a:p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Explanation: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From VLE:</a:t>
            </a:r>
          </a:p>
          <a:p>
            <a:pPr algn="l" marL="1557676" indent="-389419" lvl="3">
              <a:lnSpc>
                <a:spcPts val="3366"/>
              </a:lnSpc>
              <a:buFont typeface="Arial"/>
              <a:buChar char="￭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Higher ethanol → lower boiling point</a:t>
            </a:r>
          </a:p>
          <a:p>
            <a:pPr algn="l" marL="1557676" indent="-389419" lvl="3">
              <a:lnSpc>
                <a:spcPts val="3366"/>
              </a:lnSpc>
              <a:buFont typeface="Arial"/>
              <a:buChar char="￭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Hence, lower tray temperatures, high yield</a:t>
            </a:r>
          </a:p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Flow variables: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Affect ethanol concentration indirectly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Influence temperature profile first</a:t>
            </a:r>
          </a:p>
          <a:p>
            <a:pPr algn="l">
              <a:lnSpc>
                <a:spcPts val="3366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75517" y="3927742"/>
            <a:ext cx="8278598" cy="5908849"/>
          </a:xfrm>
          <a:custGeom>
            <a:avLst/>
            <a:gdLst/>
            <a:ahLst/>
            <a:cxnLst/>
            <a:rect r="r" b="b" t="t" l="l"/>
            <a:pathLst>
              <a:path h="5908849" w="8278598">
                <a:moveTo>
                  <a:pt x="0" y="0"/>
                </a:moveTo>
                <a:lnTo>
                  <a:pt x="8278597" y="0"/>
                </a:lnTo>
                <a:lnTo>
                  <a:pt x="8278597" y="5908849"/>
                </a:lnTo>
                <a:lnTo>
                  <a:pt x="0" y="59088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6214" y="365125"/>
            <a:ext cx="6261377" cy="66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5"/>
              </a:lnSpc>
              <a:spcBef>
                <a:spcPct val="0"/>
              </a:spcBef>
            </a:pPr>
            <a:r>
              <a:rPr lang="en-US" sz="3875" spc="267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Step 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18995" y="1306221"/>
            <a:ext cx="15450009" cy="543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Key observations: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Strong correlation between adjace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nt tray temperatures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Cl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ear axial st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ructure along column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 and V are almost perfectly correlated</a:t>
            </a:r>
          </a:p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Inference: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Using all trays is redundant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Using both L and V is unnecessary</a:t>
            </a:r>
          </a:p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Observed relationships: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 ↔ V strongly correlated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F, D, B related through mass balance</a:t>
            </a:r>
          </a:p>
          <a:p>
            <a:pPr algn="l">
              <a:lnSpc>
                <a:spcPts val="3366"/>
              </a:lnSpc>
            </a:pPr>
          </a:p>
          <a:p>
            <a:pPr algn="l">
              <a:lnSpc>
                <a:spcPts val="3366"/>
              </a:lnSpc>
            </a:pPr>
          </a:p>
          <a:p>
            <a:pPr algn="l">
              <a:lnSpc>
                <a:spcPts val="3366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6214" y="365125"/>
            <a:ext cx="6261377" cy="66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5"/>
              </a:lnSpc>
              <a:spcBef>
                <a:spcPct val="0"/>
              </a:spcBef>
            </a:pPr>
            <a:r>
              <a:rPr lang="en-US" sz="3875" spc="267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Step 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18995" y="1306221"/>
            <a:ext cx="6515193" cy="4177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Tray compression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T1–T3 → T2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T4–T6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→ T5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T7–T9 → T8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T10–T12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→ T11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T13–T14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→ T14</a:t>
            </a:r>
          </a:p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Reason: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Preserve axial inform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ation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Rem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ove redundancy</a:t>
            </a:r>
          </a:p>
          <a:p>
            <a:pPr algn="l">
              <a:lnSpc>
                <a:spcPts val="3366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192286" y="1306221"/>
            <a:ext cx="6515193" cy="4177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Temperature difference features: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Δ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T(T2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− T14)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ΔT(T2 − T8)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ΔT(T8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− T14)</a:t>
            </a:r>
          </a:p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eaning: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Surrogates for composi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tion gradients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Capture separation driving behavior</a:t>
            </a:r>
          </a:p>
          <a:p>
            <a:pPr algn="l">
              <a:lnSpc>
                <a:spcPts val="3366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418995" y="5436136"/>
            <a:ext cx="7939934" cy="3339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Ratios used: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L/D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→ reflux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intensity proxy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V/F → vapor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loading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D/F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→ distillate recovery</a:t>
            </a:r>
          </a:p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Important note: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L/D is not true reflux r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atio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ed as a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physically meaningful proxy</a:t>
            </a:r>
          </a:p>
          <a:p>
            <a:pPr algn="l">
              <a:lnSpc>
                <a:spcPts val="3366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6214" y="365125"/>
            <a:ext cx="6261377" cy="66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5"/>
              </a:lnSpc>
              <a:spcBef>
                <a:spcPct val="0"/>
              </a:spcBef>
            </a:pPr>
            <a:r>
              <a:rPr lang="en-US" sz="3875" spc="267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Step 7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18995" y="1306221"/>
            <a:ext cx="13928676" cy="543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Results: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Δ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 features:</a:t>
            </a:r>
          </a:p>
          <a:p>
            <a:pPr algn="l" marL="1557676" indent="-389419" lvl="3">
              <a:lnSpc>
                <a:spcPts val="3366"/>
              </a:lnSpc>
              <a:buFont typeface="Arial"/>
              <a:buChar char="￭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High Mutual Information</a:t>
            </a:r>
          </a:p>
          <a:p>
            <a:pPr algn="l" marL="1557676" indent="-389419" lvl="3">
              <a:lnSpc>
                <a:spcPts val="3366"/>
              </a:lnSpc>
              <a:buFont typeface="Arial"/>
              <a:buChar char="￭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Pearson &amp; Spearman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≈ 0</a:t>
            </a:r>
          </a:p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Interpr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etation: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Relationship is:</a:t>
            </a:r>
          </a:p>
          <a:p>
            <a:pPr algn="l" marL="1557676" indent="-389419" lvl="3">
              <a:lnSpc>
                <a:spcPts val="3366"/>
              </a:lnSpc>
              <a:buFont typeface="Arial"/>
              <a:buChar char="￭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Nonlinear</a:t>
            </a:r>
          </a:p>
          <a:p>
            <a:pPr algn="l" marL="1557676" indent="-389419" lvl="3">
              <a:lnSpc>
                <a:spcPts val="3366"/>
              </a:lnSpc>
              <a:buFont typeface="Arial"/>
              <a:buChar char="￭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Non-mono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tonic</a:t>
            </a:r>
          </a:p>
          <a:p>
            <a:pPr algn="l" marL="1557676" indent="-389419" lvl="3">
              <a:lnSpc>
                <a:spcPts val="3366"/>
              </a:lnSpc>
              <a:buFont typeface="Arial"/>
              <a:buChar char="￭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Regim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e-dependent</a:t>
            </a:r>
          </a:p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Conclusion: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Linear models are insufficient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Nonlinear models justified</a:t>
            </a:r>
          </a:p>
          <a:p>
            <a:pPr algn="l">
              <a:lnSpc>
                <a:spcPts val="3366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18995" y="1306221"/>
            <a:ext cx="13928676" cy="711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Observations: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Et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hanol concentration changes slowly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Long steady regions and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gradual tr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ansitions</a:t>
            </a:r>
          </a:p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Autocorrelation results: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Eth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anol c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oncentration → long memory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Reflux proxy → short memory</a:t>
            </a:r>
          </a:p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Physical explanation: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Ethanol concentration affected by:</a:t>
            </a:r>
          </a:p>
          <a:p>
            <a:pPr algn="l" marL="1557676" indent="-389419" lvl="3">
              <a:lnSpc>
                <a:spcPts val="3366"/>
              </a:lnSpc>
              <a:buFont typeface="Arial"/>
              <a:buChar char="￭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Tray holdup</a:t>
            </a:r>
          </a:p>
          <a:p>
            <a:pPr algn="l" marL="1557676" indent="-389419" lvl="3">
              <a:lnSpc>
                <a:spcPts val="3366"/>
              </a:lnSpc>
              <a:buFont typeface="Arial"/>
              <a:buChar char="￭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Mass transfer delay</a:t>
            </a:r>
          </a:p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Control variables: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Act quickly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Influence output with delay</a:t>
            </a:r>
          </a:p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Conclusion: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Lag features are physically justified</a:t>
            </a:r>
          </a:p>
          <a:p>
            <a:pPr algn="l">
              <a:lnSpc>
                <a:spcPts val="3366"/>
              </a:lnSpc>
            </a:pPr>
          </a:p>
          <a:p>
            <a:pPr algn="l">
              <a:lnSpc>
                <a:spcPts val="3366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038161" y="5402164"/>
            <a:ext cx="6486217" cy="4321442"/>
          </a:xfrm>
          <a:custGeom>
            <a:avLst/>
            <a:gdLst/>
            <a:ahLst/>
            <a:cxnLst/>
            <a:rect r="r" b="b" t="t" l="l"/>
            <a:pathLst>
              <a:path h="4321442" w="6486217">
                <a:moveTo>
                  <a:pt x="0" y="0"/>
                </a:moveTo>
                <a:lnTo>
                  <a:pt x="6486217" y="0"/>
                </a:lnTo>
                <a:lnTo>
                  <a:pt x="6486217" y="4321442"/>
                </a:lnTo>
                <a:lnTo>
                  <a:pt x="0" y="4321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960079" y="1028700"/>
            <a:ext cx="6564299" cy="4373464"/>
          </a:xfrm>
          <a:custGeom>
            <a:avLst/>
            <a:gdLst/>
            <a:ahLst/>
            <a:cxnLst/>
            <a:rect r="r" b="b" t="t" l="l"/>
            <a:pathLst>
              <a:path h="4373464" w="6564299">
                <a:moveTo>
                  <a:pt x="0" y="0"/>
                </a:moveTo>
                <a:lnTo>
                  <a:pt x="6564299" y="0"/>
                </a:lnTo>
                <a:lnTo>
                  <a:pt x="6564299" y="4373464"/>
                </a:lnTo>
                <a:lnTo>
                  <a:pt x="0" y="43734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6214" y="365125"/>
            <a:ext cx="6261377" cy="66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5"/>
              </a:lnSpc>
              <a:spcBef>
                <a:spcPct val="0"/>
              </a:spcBef>
            </a:pPr>
            <a:r>
              <a:rPr lang="en-US" sz="3875" spc="267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Step 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18995" y="1306221"/>
            <a:ext cx="13928676" cy="585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EDA established that: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Sys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tem is 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nonlinear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Inputs are highly redundant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gineered feature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 outperform raw variables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Process 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exhibits strong dynamics</a:t>
            </a:r>
          </a:p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Modelling implications: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Dyn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amic nonlinear soft sensor required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ag features are necessary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GA-based feature selection justified</a:t>
            </a:r>
          </a:p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Next steps :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Lag feature construction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Feature scaling</a:t>
            </a:r>
          </a:p>
          <a:p>
            <a:pPr algn="l" marL="1038451" indent="-346150" lvl="2">
              <a:lnSpc>
                <a:spcPts val="3366"/>
              </a:lnSpc>
              <a:buFont typeface="Arial"/>
              <a:buChar char="⚬"/>
            </a:pPr>
            <a:r>
              <a:rPr lang="en-US" sz="2404" spc="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GA-based model development</a:t>
            </a:r>
          </a:p>
          <a:p>
            <a:pPr algn="l">
              <a:lnSpc>
                <a:spcPts val="3366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776214" y="365125"/>
            <a:ext cx="6261377" cy="66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5"/>
              </a:lnSpc>
              <a:spcBef>
                <a:spcPct val="0"/>
              </a:spcBef>
            </a:pPr>
            <a:r>
              <a:rPr lang="en-US" sz="3875" spc="267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Conclusion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09549" y="4032990"/>
            <a:ext cx="13268902" cy="970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  <a:spcBef>
                <a:spcPct val="0"/>
              </a:spcBef>
            </a:pPr>
            <a:r>
              <a:rPr lang="en-US" sz="5656" spc="390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DAG70tbfErs</dc:identifier>
  <dcterms:modified xsi:type="dcterms:W3CDTF">2011-08-01T06:04:30Z</dcterms:modified>
  <cp:revision>1</cp:revision>
  <dc:title>EDA-Softsensing</dc:title>
</cp:coreProperties>
</file>